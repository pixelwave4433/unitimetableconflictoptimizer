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" name="Shape 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project: a C program that builds a clash-free timetable. This deck covers the Data Structures side.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the whole project reduces to graph coloring.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Arrays are fixed-size and fast. Session index i is used as vertex i in the graph.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adjacency[a][b]=1 and adjacency[b][a]=1 since the graph is undirected. Space O(V^2), edge check O(1).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Recursive backtracking. Worst case exponential, but fine for MAX_SESSIONS=50 and few slots. Makeup classes keep a pre-assigned color, which is checked with isSafe first.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 honest in viva: the node struct and createNode are implemented; the main output currently prints from the color array. The list is the structure meant for building the final timetable dynamically and is a natural extension.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generateTimetable(): load, graph, colors initialised to -1, run graphColoring, print.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"/>
          <p:cNvSpPr txBox="1"/>
          <p:nvPr/>
        </p:nvSpPr>
        <p:spPr>
          <a:xfrm>
            <a:off x="548640" y="1442720"/>
            <a:ext cx="8046719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University Timetable</a:t>
            </a:r>
          </a:p>
          <a:p>
            <a: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Conflict Optimizer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548640" y="3116406"/>
            <a:ext cx="6858001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CFE8E5"/>
                </a:solidFill>
              </a:defRPr>
            </a:lvl1pPr>
          </a:lstStyle>
          <a:p>
            <a:pPr/>
            <a:r>
              <a:t>Generating clash-free timetables using Graphs, Backtracking, Arrays and Linked Lists in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&amp; Data Structures Used</a:t>
            </a:r>
          </a:p>
        </p:txBody>
      </p:sp>
      <p:sp>
        <p:nvSpPr>
          <p:cNvPr id="26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A timetable is a conflict problem: no faculty, panel or slot can overlap</a:t>
            </a:r>
          </a:p>
        </p:txBody>
      </p:sp>
      <p:sp>
        <p:nvSpPr>
          <p:cNvPr id="27" name="Shape 2"/>
          <p:cNvSpPr/>
          <p:nvPr/>
        </p:nvSpPr>
        <p:spPr>
          <a:xfrm>
            <a:off x="457200" y="1463039"/>
            <a:ext cx="2651761" cy="1218533"/>
          </a:xfrm>
          <a:prstGeom prst="roundRect">
            <a:avLst>
              <a:gd name="adj" fmla="val 7504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3"/>
          <p:cNvSpPr txBox="1"/>
          <p:nvPr/>
        </p:nvSpPr>
        <p:spPr>
          <a:xfrm>
            <a:off x="594360" y="1644081"/>
            <a:ext cx="237744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5D6B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9" name="Text 4"/>
          <p:cNvSpPr txBox="1"/>
          <p:nvPr/>
        </p:nvSpPr>
        <p:spPr>
          <a:xfrm>
            <a:off x="594360" y="1971347"/>
            <a:ext cx="237744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Class cancellations leave open slots that need to be reassigned without causing faculty or room conflicts</a:t>
            </a:r>
          </a:p>
        </p:txBody>
      </p:sp>
      <p:sp>
        <p:nvSpPr>
          <p:cNvPr id="30" name="Shape 5"/>
          <p:cNvSpPr/>
          <p:nvPr/>
        </p:nvSpPr>
        <p:spPr>
          <a:xfrm>
            <a:off x="3383279" y="1463039"/>
            <a:ext cx="5303521" cy="457201"/>
          </a:xfrm>
          <a:prstGeom prst="roundRect">
            <a:avLst>
              <a:gd name="adj" fmla="val 16000"/>
            </a:avLst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6"/>
          <p:cNvSpPr txBox="1"/>
          <p:nvPr/>
        </p:nvSpPr>
        <p:spPr>
          <a:xfrm>
            <a:off x="3520440" y="159696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Array of structs</a:t>
            </a:r>
            <a:r>
              <a:rPr b="0"/>
              <a:t>  →  Sessions &amp; time slots</a:t>
            </a:r>
          </a:p>
        </p:txBody>
      </p:sp>
      <p:sp>
        <p:nvSpPr>
          <p:cNvPr id="32" name="Shape 7"/>
          <p:cNvSpPr/>
          <p:nvPr/>
        </p:nvSpPr>
        <p:spPr>
          <a:xfrm>
            <a:off x="3383279" y="2011679"/>
            <a:ext cx="5303521" cy="457201"/>
          </a:xfrm>
          <a:prstGeom prst="roundRect">
            <a:avLst>
              <a:gd name="adj" fmla="val 16000"/>
            </a:avLst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8"/>
          <p:cNvSpPr txBox="1"/>
          <p:nvPr/>
        </p:nvSpPr>
        <p:spPr>
          <a:xfrm>
            <a:off x="3520440" y="214560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Adjacency matrix</a:t>
            </a:r>
            <a:r>
              <a:rPr b="0"/>
              <a:t>  →  Conflict graph</a:t>
            </a:r>
          </a:p>
        </p:txBody>
      </p:sp>
      <p:sp>
        <p:nvSpPr>
          <p:cNvPr id="34" name="Shape 9"/>
          <p:cNvSpPr/>
          <p:nvPr/>
        </p:nvSpPr>
        <p:spPr>
          <a:xfrm>
            <a:off x="3383279" y="2560320"/>
            <a:ext cx="5303521" cy="457201"/>
          </a:xfrm>
          <a:prstGeom prst="roundRect">
            <a:avLst>
              <a:gd name="adj" fmla="val 16000"/>
            </a:avLst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0"/>
          <p:cNvSpPr txBox="1"/>
          <p:nvPr/>
        </p:nvSpPr>
        <p:spPr>
          <a:xfrm>
            <a:off x="3520440" y="269424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Graph coloring + backtracking</a:t>
            </a:r>
            <a:r>
              <a:rPr b="0"/>
              <a:t>  →  Slot assignment</a:t>
            </a:r>
          </a:p>
        </p:txBody>
      </p:sp>
      <p:sp>
        <p:nvSpPr>
          <p:cNvPr id="36" name="Shape 11"/>
          <p:cNvSpPr/>
          <p:nvPr/>
        </p:nvSpPr>
        <p:spPr>
          <a:xfrm>
            <a:off x="3383279" y="3108960"/>
            <a:ext cx="5303521" cy="457201"/>
          </a:xfrm>
          <a:prstGeom prst="roundRect">
            <a:avLst>
              <a:gd name="adj" fmla="val 16000"/>
            </a:avLst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2"/>
          <p:cNvSpPr txBox="1"/>
          <p:nvPr/>
        </p:nvSpPr>
        <p:spPr>
          <a:xfrm>
            <a:off x="3520440" y="324288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Linked list</a:t>
            </a:r>
            <a:r>
              <a:rPr b="0"/>
              <a:t>  →  Dynamic timetable / requests</a:t>
            </a:r>
          </a:p>
        </p:txBody>
      </p:sp>
      <p:sp>
        <p:nvSpPr>
          <p:cNvPr id="38" name="Text 13"/>
          <p:cNvSpPr txBox="1"/>
          <p:nvPr/>
        </p:nvSpPr>
        <p:spPr>
          <a:xfrm>
            <a:off x="457200" y="405594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600">
                <a:solidFill>
                  <a:srgbClr val="F2994A"/>
                </a:solidFill>
              </a:defRPr>
            </a:lvl1pPr>
          </a:lstStyle>
          <a:p>
            <a:pPr/>
            <a:r>
              <a:t>Idea: Sessions = vertices · Clashes = edges · Time slots = colors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Structures &amp; Arrays</a:t>
            </a:r>
          </a:p>
        </p:txBody>
      </p:sp>
      <p:sp>
        <p:nvSpPr>
          <p:cNvPr id="43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User-defined types (struct) hold the records loaded from the database</a:t>
            </a:r>
          </a:p>
        </p:txBody>
      </p:sp>
      <p:sp>
        <p:nvSpPr>
          <p:cNvPr id="44" name="Shape 2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3"/>
          <p:cNvSpPr txBox="1"/>
          <p:nvPr/>
        </p:nvSpPr>
        <p:spPr>
          <a:xfrm>
            <a:off x="594359" y="1463039"/>
            <a:ext cx="3749042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#define MAX_SESSIONS 50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#define MAX_SLOTS 15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{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 slot_id;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char day_of_week[20];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char start_time[20];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char end_time[20];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 TimeSlot;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{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 session_id, faculty_id;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 panel_id, room_id, slot_id;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char course_name[100];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... } Session;</a:t>
            </a:r>
          </a:p>
        </p:txBody>
      </p:sp>
      <p:sp>
        <p:nvSpPr>
          <p:cNvPr id="46" name="Shape 4"/>
          <p:cNvSpPr/>
          <p:nvPr/>
        </p:nvSpPr>
        <p:spPr>
          <a:xfrm>
            <a:off x="4754879" y="1371600"/>
            <a:ext cx="3931921" cy="1280161"/>
          </a:xfrm>
          <a:prstGeom prst="roundRect">
            <a:avLst>
              <a:gd name="adj" fmla="val 7143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5"/>
          <p:cNvSpPr txBox="1"/>
          <p:nvPr/>
        </p:nvSpPr>
        <p:spPr>
          <a:xfrm>
            <a:off x="4892040" y="1552641"/>
            <a:ext cx="3657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5D6B"/>
                </a:solidFill>
              </a:defRPr>
            </a:lvl1pPr>
          </a:lstStyle>
          <a:p>
            <a:pPr/>
            <a:r>
              <a:t>TimeSlot slots[MAX_SLOTS]</a:t>
            </a:r>
          </a:p>
        </p:txBody>
      </p:sp>
      <p:sp>
        <p:nvSpPr>
          <p:cNvPr id="48" name="Text 6"/>
          <p:cNvSpPr txBox="1"/>
          <p:nvPr/>
        </p:nvSpPr>
        <p:spPr>
          <a:xfrm>
            <a:off x="4892040" y="1828799"/>
            <a:ext cx="365760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Array of structs. One entry per day/time slot (e.g. Mon 9:00-10:00).</a:t>
            </a:r>
          </a:p>
        </p:txBody>
      </p:sp>
      <p:sp>
        <p:nvSpPr>
          <p:cNvPr id="49" name="Shape 7"/>
          <p:cNvSpPr/>
          <p:nvPr/>
        </p:nvSpPr>
        <p:spPr>
          <a:xfrm>
            <a:off x="4754879" y="2788920"/>
            <a:ext cx="3931921" cy="1325881"/>
          </a:xfrm>
          <a:prstGeom prst="roundRect">
            <a:avLst>
              <a:gd name="adj" fmla="val 6897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8"/>
          <p:cNvSpPr txBox="1"/>
          <p:nvPr/>
        </p:nvSpPr>
        <p:spPr>
          <a:xfrm>
            <a:off x="4892040" y="2969962"/>
            <a:ext cx="3657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5D6B"/>
                </a:solidFill>
              </a:defRPr>
            </a:lvl1pPr>
          </a:lstStyle>
          <a:p>
            <a:pPr/>
            <a:r>
              <a:t>Session sessions[MAX_SESSIONS]</a:t>
            </a:r>
          </a:p>
        </p:txBody>
      </p:sp>
      <p:sp>
        <p:nvSpPr>
          <p:cNvPr id="51" name="Text 9"/>
          <p:cNvSpPr txBox="1"/>
          <p:nvPr/>
        </p:nvSpPr>
        <p:spPr>
          <a:xfrm>
            <a:off x="4892040" y="3246120"/>
            <a:ext cx="365760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Array of structs. One entry per scheduled class: course, faculty, panel, room, type.</a:t>
            </a:r>
          </a:p>
        </p:txBody>
      </p:sp>
      <p:sp>
        <p:nvSpPr>
          <p:cNvPr id="52" name="Text 10"/>
          <p:cNvSpPr txBox="1"/>
          <p:nvPr/>
        </p:nvSpPr>
        <p:spPr>
          <a:xfrm>
            <a:off x="457200" y="4397178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55555"/>
                </a:solidFill>
              </a:defRPr>
            </a:lvl1pPr>
          </a:lstStyle>
          <a:p>
            <a:pPr/>
            <a:r>
              <a:t>Arrays give O(1) access by index, and the index of a session becomes its graph vertex number.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Conflict Graph (Adjacency Matrix)</a:t>
            </a:r>
          </a:p>
        </p:txBody>
      </p:sp>
      <p:sp>
        <p:nvSpPr>
          <p:cNvPr id="57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Each session is a vertex; an edge means "cannot be at the same time"</a:t>
            </a:r>
          </a:p>
        </p:txBody>
      </p:sp>
      <p:sp>
        <p:nvSpPr>
          <p:cNvPr id="58" name="Shape 2"/>
          <p:cNvSpPr/>
          <p:nvPr/>
        </p:nvSpPr>
        <p:spPr>
          <a:xfrm>
            <a:off x="457200" y="1371600"/>
            <a:ext cx="4206241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"/>
          <p:cNvSpPr txBox="1"/>
          <p:nvPr/>
        </p:nvSpPr>
        <p:spPr>
          <a:xfrm>
            <a:off x="594359" y="1463039"/>
            <a:ext cx="39319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{</a:t>
            </a:r>
          </a:p>
          <a:p>
            <a:pPr>
              <a:defRPr sz="12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 vertices;</a:t>
            </a:r>
          </a:p>
          <a:p>
            <a:pPr>
              <a:defRPr sz="12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int adjacency[MAX_SESSIONS][MAX_SESSIONS];</a:t>
            </a:r>
          </a:p>
          <a:p>
            <a:pPr>
              <a:defRPr sz="12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 Graph;</a:t>
            </a:r>
          </a:p>
        </p:txBody>
      </p:sp>
      <p:sp>
        <p:nvSpPr>
          <p:cNvPr id="60" name="Shape 4"/>
          <p:cNvSpPr/>
          <p:nvPr/>
        </p:nvSpPr>
        <p:spPr>
          <a:xfrm>
            <a:off x="457200" y="2880360"/>
            <a:ext cx="4206241" cy="1554481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5"/>
          <p:cNvSpPr txBox="1"/>
          <p:nvPr/>
        </p:nvSpPr>
        <p:spPr>
          <a:xfrm>
            <a:off x="594359" y="2971800"/>
            <a:ext cx="3931922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in buildConflictGraph()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(s[i].panel_id == s[j].panel_id)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addConflict(graph, i, j);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 if (s[i].faculty_id == s[j].faculty_id)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addConflict(graph, i, j);</a:t>
            </a:r>
          </a:p>
        </p:txBody>
      </p:sp>
      <p:sp>
        <p:nvSpPr>
          <p:cNvPr id="62" name="Shape 6"/>
          <p:cNvSpPr/>
          <p:nvPr/>
        </p:nvSpPr>
        <p:spPr>
          <a:xfrm>
            <a:off x="6035040" y="1737360"/>
            <a:ext cx="1828801" cy="1"/>
          </a:xfrm>
          <a:prstGeom prst="line">
            <a:avLst/>
          </a:prstGeom>
          <a:ln w="254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Shape 7"/>
          <p:cNvSpPr/>
          <p:nvPr/>
        </p:nvSpPr>
        <p:spPr>
          <a:xfrm>
            <a:off x="6035040" y="1737360"/>
            <a:ext cx="1" cy="1554481"/>
          </a:xfrm>
          <a:prstGeom prst="line">
            <a:avLst/>
          </a:prstGeom>
          <a:ln w="254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8"/>
          <p:cNvSpPr/>
          <p:nvPr/>
        </p:nvSpPr>
        <p:spPr>
          <a:xfrm>
            <a:off x="7863840" y="1737360"/>
            <a:ext cx="1" cy="1554481"/>
          </a:xfrm>
          <a:prstGeom prst="line">
            <a:avLst/>
          </a:prstGeom>
          <a:ln w="254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9"/>
          <p:cNvSpPr/>
          <p:nvPr/>
        </p:nvSpPr>
        <p:spPr>
          <a:xfrm>
            <a:off x="5760720" y="1463039"/>
            <a:ext cx="548641" cy="548641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0"/>
          <p:cNvSpPr txBox="1"/>
          <p:nvPr/>
        </p:nvSpPr>
        <p:spPr>
          <a:xfrm>
            <a:off x="5760720" y="163278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67" name="Shape 11"/>
          <p:cNvSpPr/>
          <p:nvPr/>
        </p:nvSpPr>
        <p:spPr>
          <a:xfrm>
            <a:off x="7589519" y="1463039"/>
            <a:ext cx="548641" cy="548641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2"/>
          <p:cNvSpPr txBox="1"/>
          <p:nvPr/>
        </p:nvSpPr>
        <p:spPr>
          <a:xfrm>
            <a:off x="7589519" y="163278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69" name="Shape 13"/>
          <p:cNvSpPr/>
          <p:nvPr/>
        </p:nvSpPr>
        <p:spPr>
          <a:xfrm>
            <a:off x="5760720" y="3017520"/>
            <a:ext cx="548641" cy="548641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4"/>
          <p:cNvSpPr txBox="1"/>
          <p:nvPr/>
        </p:nvSpPr>
        <p:spPr>
          <a:xfrm>
            <a:off x="5760720" y="318726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71" name="Shape 15"/>
          <p:cNvSpPr/>
          <p:nvPr/>
        </p:nvSpPr>
        <p:spPr>
          <a:xfrm>
            <a:off x="7589519" y="3017520"/>
            <a:ext cx="548641" cy="548641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6"/>
          <p:cNvSpPr txBox="1"/>
          <p:nvPr/>
        </p:nvSpPr>
        <p:spPr>
          <a:xfrm>
            <a:off x="7589519" y="318726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73" name="Text 17"/>
          <p:cNvSpPr txBox="1"/>
          <p:nvPr/>
        </p:nvSpPr>
        <p:spPr>
          <a:xfrm>
            <a:off x="4937759" y="4047666"/>
            <a:ext cx="3931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55555"/>
                </a:solidFill>
              </a:defRPr>
            </a:lvl1pPr>
          </a:lstStyle>
          <a:p>
            <a:pPr/>
            <a:r>
              <a:t>A–B: same panel   A–C: same faculty   B–D: same panel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Graph Coloring using Backtracking</a:t>
            </a:r>
          </a:p>
        </p:txBody>
      </p:sp>
      <p:sp>
        <p:nvSpPr>
          <p:cNvPr id="78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Assign a slot (color) to every session so connected sessions differ</a:t>
            </a:r>
          </a:p>
        </p:txBody>
      </p:sp>
      <p:sp>
        <p:nvSpPr>
          <p:cNvPr id="79" name="Shape 2"/>
          <p:cNvSpPr/>
          <p:nvPr/>
        </p:nvSpPr>
        <p:spPr>
          <a:xfrm>
            <a:off x="457200" y="1371600"/>
            <a:ext cx="4572000" cy="3108961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 w="12700">
            <a:solidFill>
              <a:srgbClr val="1E1E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3"/>
          <p:cNvSpPr txBox="1"/>
          <p:nvPr/>
        </p:nvSpPr>
        <p:spPr>
          <a:xfrm>
            <a:off x="594360" y="1463039"/>
            <a:ext cx="4297680" cy="2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isSafe(Graph *g,int course,int slot,int color[]){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for(int i=0;i&lt;g-&gt;vertices;i++)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if(g-&gt;adjacency[course][i]==1 &amp;&amp; color[i]==slot)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return 0;      // neighbour already has it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1;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defRPr sz="1000"/>
            </a:pP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graphColoring(Graph *g,int color[],int total,int c){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if(c==g-&gt;vertices) return 1;   // all done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for(int slot=0;slot&lt;total;slot++){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if(isSafe(g,c,slot,color)){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color[c]=slot;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if(graphColoring(g,color,total,c+1)) return 1;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color[c]=-1;   // BACKTRACK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0;</a:t>
            </a:r>
          </a:p>
          <a:p>
            <a:pPr>
              <a:defRPr sz="10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81" name="Shape 4"/>
          <p:cNvSpPr/>
          <p:nvPr/>
        </p:nvSpPr>
        <p:spPr>
          <a:xfrm>
            <a:off x="5303520" y="1371599"/>
            <a:ext cx="502921" cy="50292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5"/>
          <p:cNvSpPr txBox="1"/>
          <p:nvPr/>
        </p:nvSpPr>
        <p:spPr>
          <a:xfrm>
            <a:off x="5303520" y="1518482"/>
            <a:ext cx="50292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" name="Text 6"/>
          <p:cNvSpPr txBox="1"/>
          <p:nvPr/>
        </p:nvSpPr>
        <p:spPr>
          <a:xfrm>
            <a:off x="5943600" y="1528380"/>
            <a:ext cx="2743200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Pick next session</a:t>
            </a:r>
          </a:p>
        </p:txBody>
      </p:sp>
      <p:sp>
        <p:nvSpPr>
          <p:cNvPr id="84" name="Shape 7"/>
          <p:cNvSpPr/>
          <p:nvPr/>
        </p:nvSpPr>
        <p:spPr>
          <a:xfrm>
            <a:off x="5303520" y="2148839"/>
            <a:ext cx="502921" cy="502921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8"/>
          <p:cNvSpPr txBox="1"/>
          <p:nvPr/>
        </p:nvSpPr>
        <p:spPr>
          <a:xfrm>
            <a:off x="5303520" y="2295722"/>
            <a:ext cx="50292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6" name="Text 9"/>
          <p:cNvSpPr txBox="1"/>
          <p:nvPr/>
        </p:nvSpPr>
        <p:spPr>
          <a:xfrm>
            <a:off x="5943600" y="2305619"/>
            <a:ext cx="2743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Try each slot in turn</a:t>
            </a:r>
          </a:p>
        </p:txBody>
      </p:sp>
      <p:sp>
        <p:nvSpPr>
          <p:cNvPr id="87" name="Shape 10"/>
          <p:cNvSpPr/>
          <p:nvPr/>
        </p:nvSpPr>
        <p:spPr>
          <a:xfrm>
            <a:off x="5303520" y="2926079"/>
            <a:ext cx="502921" cy="502921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1"/>
          <p:cNvSpPr txBox="1"/>
          <p:nvPr/>
        </p:nvSpPr>
        <p:spPr>
          <a:xfrm>
            <a:off x="5303520" y="3072962"/>
            <a:ext cx="50292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9" name="Text 12"/>
          <p:cNvSpPr txBox="1"/>
          <p:nvPr/>
        </p:nvSpPr>
        <p:spPr>
          <a:xfrm>
            <a:off x="5943600" y="3082859"/>
            <a:ext cx="2743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isSafe? assign &amp; recurse</a:t>
            </a:r>
          </a:p>
        </p:txBody>
      </p:sp>
      <p:sp>
        <p:nvSpPr>
          <p:cNvPr id="90" name="Shape 13"/>
          <p:cNvSpPr/>
          <p:nvPr/>
        </p:nvSpPr>
        <p:spPr>
          <a:xfrm>
            <a:off x="5303520" y="3703320"/>
            <a:ext cx="502921" cy="502921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4"/>
          <p:cNvSpPr txBox="1"/>
          <p:nvPr/>
        </p:nvSpPr>
        <p:spPr>
          <a:xfrm>
            <a:off x="5303520" y="3850203"/>
            <a:ext cx="50292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2" name="Text 15"/>
          <p:cNvSpPr txBox="1"/>
          <p:nvPr/>
        </p:nvSpPr>
        <p:spPr>
          <a:xfrm>
            <a:off x="5943600" y="3860100"/>
            <a:ext cx="2743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pPr/>
            <a:r>
              <a:t>Dead end? undo (backtrack)</a:t>
            </a:r>
          </a:p>
        </p:txBody>
      </p:sp>
      <p:sp>
        <p:nvSpPr>
          <p:cNvPr id="93" name="Text 16"/>
          <p:cNvSpPr txBox="1"/>
          <p:nvPr/>
        </p:nvSpPr>
        <p:spPr>
          <a:xfrm>
            <a:off x="5303520" y="4465759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0B5D6B"/>
                </a:solidFill>
              </a:defRPr>
            </a:lvl1pPr>
          </a:lstStyle>
          <a:p>
            <a:pPr/>
            <a:r>
              <a:t>Recursion + undo on failure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Linked List (Dynamic Memory)</a:t>
            </a:r>
          </a:p>
        </p:txBody>
      </p:sp>
      <p:sp>
        <p:nvSpPr>
          <p:cNvPr id="98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Nodes are created with malloc() and chained with next pointers</a:t>
            </a:r>
          </a:p>
        </p:txBody>
      </p:sp>
      <p:sp>
        <p:nvSpPr>
          <p:cNvPr id="99" name="Shape 2"/>
          <p:cNvSpPr/>
          <p:nvPr/>
        </p:nvSpPr>
        <p:spPr>
          <a:xfrm>
            <a:off x="457200" y="1371600"/>
            <a:ext cx="4297680" cy="2651761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 w="12700">
            <a:solidFill>
              <a:srgbClr val="1E1E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3"/>
          <p:cNvSpPr txBox="1"/>
          <p:nvPr/>
        </p:nvSpPr>
        <p:spPr>
          <a:xfrm>
            <a:off x="594359" y="1463039"/>
            <a:ext cx="4023361" cy="199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TimetableNode {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Session session;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struct TimetableNode *next;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 TimetableNode;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TimetableNode *createNode(Session s){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TimetableNode *n =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malloc(sizeof(TimetableNode));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if(n==NULL) exit(1);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n-&gt;session = s;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n-&gt;next = NULL;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n;</a:t>
            </a:r>
          </a:p>
          <a:p>
            <a:pPr>
              <a:defRPr sz="1100">
                <a:solidFill>
                  <a:srgbClr val="E6E6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01" name="Shape 4"/>
          <p:cNvSpPr/>
          <p:nvPr/>
        </p:nvSpPr>
        <p:spPr>
          <a:xfrm>
            <a:off x="5029200" y="1737360"/>
            <a:ext cx="685800" cy="548641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5"/>
          <p:cNvSpPr txBox="1"/>
          <p:nvPr/>
        </p:nvSpPr>
        <p:spPr>
          <a:xfrm>
            <a:off x="5029200" y="1944546"/>
            <a:ext cx="685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103" name="Shape 6"/>
          <p:cNvSpPr/>
          <p:nvPr/>
        </p:nvSpPr>
        <p:spPr>
          <a:xfrm>
            <a:off x="5714999" y="1737360"/>
            <a:ext cx="365762" cy="548641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7"/>
          <p:cNvSpPr txBox="1"/>
          <p:nvPr/>
        </p:nvSpPr>
        <p:spPr>
          <a:xfrm>
            <a:off x="6035040" y="1917000"/>
            <a:ext cx="274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B5D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5" name="Shape 8"/>
          <p:cNvSpPr/>
          <p:nvPr/>
        </p:nvSpPr>
        <p:spPr>
          <a:xfrm>
            <a:off x="6263640" y="1737360"/>
            <a:ext cx="685801" cy="548641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9"/>
          <p:cNvSpPr txBox="1"/>
          <p:nvPr/>
        </p:nvSpPr>
        <p:spPr>
          <a:xfrm>
            <a:off x="6263640" y="1944546"/>
            <a:ext cx="685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107" name="Shape 10"/>
          <p:cNvSpPr/>
          <p:nvPr/>
        </p:nvSpPr>
        <p:spPr>
          <a:xfrm>
            <a:off x="6949440" y="1737360"/>
            <a:ext cx="365761" cy="548641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1"/>
          <p:cNvSpPr txBox="1"/>
          <p:nvPr/>
        </p:nvSpPr>
        <p:spPr>
          <a:xfrm>
            <a:off x="7269480" y="1917000"/>
            <a:ext cx="2743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B5D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9" name="Shape 12"/>
          <p:cNvSpPr/>
          <p:nvPr/>
        </p:nvSpPr>
        <p:spPr>
          <a:xfrm>
            <a:off x="7498080" y="1737360"/>
            <a:ext cx="685801" cy="548641"/>
          </a:xfrm>
          <a:prstGeom prst="rect">
            <a:avLst/>
          </a:prstGeom>
          <a:solidFill>
            <a:srgbClr val="0B5D6B"/>
          </a:solidFill>
          <a:ln w="12700">
            <a:solidFill>
              <a:srgbClr val="0B5D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3"/>
          <p:cNvSpPr txBox="1"/>
          <p:nvPr/>
        </p:nvSpPr>
        <p:spPr>
          <a:xfrm>
            <a:off x="7498080" y="1944546"/>
            <a:ext cx="685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111" name="Shape 14"/>
          <p:cNvSpPr/>
          <p:nvPr/>
        </p:nvSpPr>
        <p:spPr>
          <a:xfrm>
            <a:off x="8183880" y="1737360"/>
            <a:ext cx="365761" cy="548641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5"/>
          <p:cNvSpPr txBox="1"/>
          <p:nvPr/>
        </p:nvSpPr>
        <p:spPr>
          <a:xfrm>
            <a:off x="8503919" y="1944546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55555"/>
                </a:solidFill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113" name="Shape 16"/>
          <p:cNvSpPr/>
          <p:nvPr/>
        </p:nvSpPr>
        <p:spPr>
          <a:xfrm>
            <a:off x="5029200" y="2651760"/>
            <a:ext cx="3657600" cy="1371601"/>
          </a:xfrm>
          <a:prstGeom prst="roundRect">
            <a:avLst>
              <a:gd name="adj" fmla="val 6667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17"/>
          <p:cNvSpPr txBox="1"/>
          <p:nvPr/>
        </p:nvSpPr>
        <p:spPr>
          <a:xfrm>
            <a:off x="5166359" y="2832801"/>
            <a:ext cx="338328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5D6B"/>
                </a:solidFill>
              </a:defRPr>
            </a:lvl1pPr>
          </a:lstStyle>
          <a:p>
            <a:pPr/>
            <a:r>
              <a:t>Why a linked list?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5166359" y="3108960"/>
            <a:ext cx="3383281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Timetable size is not fixed, so nodes grow one at a time with no wasted space. MakeupRequest uses the same idea (with a priority field) for pending requests.</a:t>
            </a:r>
          </a:p>
        </p:txBody>
      </p:sp>
      <p:sp>
        <p:nvSpPr>
          <p:cNvPr id="116" name="Text 19"/>
          <p:cNvSpPr txBox="1"/>
          <p:nvPr/>
        </p:nvSpPr>
        <p:spPr>
          <a:xfrm>
            <a:off x="457200" y="4351458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55555"/>
                </a:solidFill>
              </a:defRPr>
            </a:lvl1pPr>
          </a:lstStyle>
          <a:p>
            <a:pPr/>
            <a:r>
              <a:t>Insert at head: O(1) · Traverse: O(n)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457200" y="365760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Program Flow &amp; Complexity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457200" y="958281"/>
            <a:ext cx="822960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From database records to a printed timetable</a:t>
            </a:r>
          </a:p>
        </p:txBody>
      </p:sp>
      <p:sp>
        <p:nvSpPr>
          <p:cNvPr id="122" name="Shape 2"/>
          <p:cNvSpPr/>
          <p:nvPr/>
        </p:nvSpPr>
        <p:spPr>
          <a:xfrm>
            <a:off x="457200" y="1463039"/>
            <a:ext cx="1508761" cy="868681"/>
          </a:xfrm>
          <a:prstGeom prst="roundRect">
            <a:avLst>
              <a:gd name="adj" fmla="val 10526"/>
            </a:avLst>
          </a:prstGeom>
          <a:solidFill>
            <a:srgbClr val="0B5D6B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3"/>
          <p:cNvSpPr txBox="1"/>
          <p:nvPr/>
        </p:nvSpPr>
        <p:spPr>
          <a:xfrm>
            <a:off x="502919" y="181894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Load slots &amp; sessions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1938527" y="1773009"/>
            <a:ext cx="228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B5D6B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5" name="Shape 5"/>
          <p:cNvSpPr/>
          <p:nvPr/>
        </p:nvSpPr>
        <p:spPr>
          <a:xfrm>
            <a:off x="2148839" y="1463039"/>
            <a:ext cx="1508761" cy="868681"/>
          </a:xfrm>
          <a:prstGeom prst="roundRect">
            <a:avLst>
              <a:gd name="adj" fmla="val 10526"/>
            </a:avLst>
          </a:prstGeom>
          <a:solidFill>
            <a:srgbClr val="0B5D6B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6"/>
          <p:cNvSpPr txBox="1"/>
          <p:nvPr/>
        </p:nvSpPr>
        <p:spPr>
          <a:xfrm>
            <a:off x="2194560" y="181894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Build conflict graph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3630167" y="1773009"/>
            <a:ext cx="228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B5D6B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8" name="Shape 8"/>
          <p:cNvSpPr/>
          <p:nvPr/>
        </p:nvSpPr>
        <p:spPr>
          <a:xfrm>
            <a:off x="3840479" y="1463039"/>
            <a:ext cx="1508761" cy="868681"/>
          </a:xfrm>
          <a:prstGeom prst="roundRect">
            <a:avLst>
              <a:gd name="adj" fmla="val 10526"/>
            </a:avLst>
          </a:prstGeom>
          <a:solidFill>
            <a:srgbClr val="0B5D6B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9"/>
          <p:cNvSpPr txBox="1"/>
          <p:nvPr/>
        </p:nvSpPr>
        <p:spPr>
          <a:xfrm>
            <a:off x="3886200" y="1818947"/>
            <a:ext cx="141732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Pre-fix MAKEUP slots</a:t>
            </a:r>
          </a:p>
        </p:txBody>
      </p:sp>
      <p:sp>
        <p:nvSpPr>
          <p:cNvPr id="130" name="Text 10"/>
          <p:cNvSpPr txBox="1"/>
          <p:nvPr/>
        </p:nvSpPr>
        <p:spPr>
          <a:xfrm>
            <a:off x="5321808" y="1773009"/>
            <a:ext cx="228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B5D6B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1" name="Shape 11"/>
          <p:cNvSpPr/>
          <p:nvPr/>
        </p:nvSpPr>
        <p:spPr>
          <a:xfrm>
            <a:off x="5532120" y="1463039"/>
            <a:ext cx="1508761" cy="868681"/>
          </a:xfrm>
          <a:prstGeom prst="roundRect">
            <a:avLst>
              <a:gd name="adj" fmla="val 10526"/>
            </a:avLst>
          </a:prstGeom>
          <a:solidFill>
            <a:srgbClr val="F2994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12"/>
          <p:cNvSpPr txBox="1"/>
          <p:nvPr/>
        </p:nvSpPr>
        <p:spPr>
          <a:xfrm>
            <a:off x="5577840" y="181894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graphColoring()</a:t>
            </a:r>
          </a:p>
        </p:txBody>
      </p:sp>
      <p:sp>
        <p:nvSpPr>
          <p:cNvPr id="133" name="Text 13"/>
          <p:cNvSpPr txBox="1"/>
          <p:nvPr/>
        </p:nvSpPr>
        <p:spPr>
          <a:xfrm>
            <a:off x="7013447" y="1773009"/>
            <a:ext cx="228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B5D6B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4" name="Shape 14"/>
          <p:cNvSpPr/>
          <p:nvPr/>
        </p:nvSpPr>
        <p:spPr>
          <a:xfrm>
            <a:off x="7223759" y="1463039"/>
            <a:ext cx="1508761" cy="868681"/>
          </a:xfrm>
          <a:prstGeom prst="roundRect">
            <a:avLst>
              <a:gd name="adj" fmla="val 10526"/>
            </a:avLst>
          </a:prstGeom>
          <a:solidFill>
            <a:srgbClr val="0B5D6B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5"/>
          <p:cNvSpPr txBox="1"/>
          <p:nvPr/>
        </p:nvSpPr>
        <p:spPr>
          <a:xfrm>
            <a:off x="7269480" y="1818947"/>
            <a:ext cx="1417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Display timetable</a:t>
            </a:r>
          </a:p>
        </p:txBody>
      </p:sp>
      <p:sp>
        <p:nvSpPr>
          <p:cNvPr id="136" name="Shape 16"/>
          <p:cNvSpPr/>
          <p:nvPr/>
        </p:nvSpPr>
        <p:spPr>
          <a:xfrm>
            <a:off x="457200" y="2743200"/>
            <a:ext cx="1920240" cy="1645921"/>
          </a:xfrm>
          <a:prstGeom prst="roundRect">
            <a:avLst>
              <a:gd name="adj" fmla="val 5556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7"/>
          <p:cNvSpPr txBox="1"/>
          <p:nvPr/>
        </p:nvSpPr>
        <p:spPr>
          <a:xfrm>
            <a:off x="457200" y="2976879"/>
            <a:ext cx="192024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O(n²)</a:t>
            </a:r>
          </a:p>
        </p:txBody>
      </p:sp>
      <p:sp>
        <p:nvSpPr>
          <p:cNvPr id="138" name="Text 18"/>
          <p:cNvSpPr txBox="1"/>
          <p:nvPr/>
        </p:nvSpPr>
        <p:spPr>
          <a:xfrm>
            <a:off x="594359" y="3520440"/>
            <a:ext cx="164592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Build graph: compare every pair of sessions</a:t>
            </a:r>
          </a:p>
        </p:txBody>
      </p:sp>
      <p:sp>
        <p:nvSpPr>
          <p:cNvPr id="139" name="Shape 19"/>
          <p:cNvSpPr/>
          <p:nvPr/>
        </p:nvSpPr>
        <p:spPr>
          <a:xfrm>
            <a:off x="2560320" y="2743200"/>
            <a:ext cx="1920241" cy="1645921"/>
          </a:xfrm>
          <a:prstGeom prst="roundRect">
            <a:avLst>
              <a:gd name="adj" fmla="val 5556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20"/>
          <p:cNvSpPr txBox="1"/>
          <p:nvPr/>
        </p:nvSpPr>
        <p:spPr>
          <a:xfrm>
            <a:off x="2560320" y="2976879"/>
            <a:ext cx="19202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O(V²)</a:t>
            </a:r>
          </a:p>
        </p:txBody>
      </p:sp>
      <p:sp>
        <p:nvSpPr>
          <p:cNvPr id="141" name="Text 21"/>
          <p:cNvSpPr txBox="1"/>
          <p:nvPr/>
        </p:nvSpPr>
        <p:spPr>
          <a:xfrm>
            <a:off x="2697479" y="3520440"/>
            <a:ext cx="16459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Adjacency matrix memory</a:t>
            </a:r>
          </a:p>
        </p:txBody>
      </p:sp>
      <p:sp>
        <p:nvSpPr>
          <p:cNvPr id="142" name="Shape 22"/>
          <p:cNvSpPr/>
          <p:nvPr/>
        </p:nvSpPr>
        <p:spPr>
          <a:xfrm>
            <a:off x="4663440" y="2743200"/>
            <a:ext cx="1920241" cy="1645921"/>
          </a:xfrm>
          <a:prstGeom prst="roundRect">
            <a:avLst>
              <a:gd name="adj" fmla="val 5556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23"/>
          <p:cNvSpPr txBox="1"/>
          <p:nvPr/>
        </p:nvSpPr>
        <p:spPr>
          <a:xfrm>
            <a:off x="4663440" y="2976879"/>
            <a:ext cx="19202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O(V)</a:t>
            </a:r>
          </a:p>
        </p:txBody>
      </p:sp>
      <p:sp>
        <p:nvSpPr>
          <p:cNvPr id="144" name="Text 24"/>
          <p:cNvSpPr txBox="1"/>
          <p:nvPr/>
        </p:nvSpPr>
        <p:spPr>
          <a:xfrm>
            <a:off x="4800599" y="3520440"/>
            <a:ext cx="164592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isSafe() check per assignment</a:t>
            </a:r>
          </a:p>
        </p:txBody>
      </p:sp>
      <p:sp>
        <p:nvSpPr>
          <p:cNvPr id="145" name="Shape 25"/>
          <p:cNvSpPr/>
          <p:nvPr/>
        </p:nvSpPr>
        <p:spPr>
          <a:xfrm>
            <a:off x="6766559" y="2743200"/>
            <a:ext cx="1920241" cy="1645921"/>
          </a:xfrm>
          <a:prstGeom prst="roundRect">
            <a:avLst>
              <a:gd name="adj" fmla="val 5556"/>
            </a:avLst>
          </a:prstGeom>
          <a:solidFill>
            <a:srgbClr val="E3F3F1"/>
          </a:solidFill>
          <a:ln w="12700">
            <a:solidFill>
              <a:srgbClr val="E3F3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26"/>
          <p:cNvSpPr txBox="1"/>
          <p:nvPr/>
        </p:nvSpPr>
        <p:spPr>
          <a:xfrm>
            <a:off x="6766559" y="2976879"/>
            <a:ext cx="19202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0B5D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O(k^V)</a:t>
            </a:r>
          </a:p>
        </p:txBody>
      </p:sp>
      <p:sp>
        <p:nvSpPr>
          <p:cNvPr id="147" name="Text 27"/>
          <p:cNvSpPr txBox="1"/>
          <p:nvPr/>
        </p:nvSpPr>
        <p:spPr>
          <a:xfrm>
            <a:off x="6903719" y="3520440"/>
            <a:ext cx="164592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222222"/>
                </a:solidFill>
              </a:defRPr>
            </a:lvl1pPr>
          </a:lstStyle>
          <a:p>
            <a:pPr/>
            <a:r>
              <a:t>Backtracking worst case (k slots, V sessions)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 txBox="1"/>
          <p:nvPr/>
        </p:nvSpPr>
        <p:spPr>
          <a:xfrm>
            <a:off x="548640" y="523240"/>
            <a:ext cx="8046719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52" name="Shape 1"/>
          <p:cNvSpPr/>
          <p:nvPr/>
        </p:nvSpPr>
        <p:spPr>
          <a:xfrm>
            <a:off x="548640" y="1463039"/>
            <a:ext cx="3840480" cy="1143001"/>
          </a:xfrm>
          <a:prstGeom prst="roundRect">
            <a:avLst>
              <a:gd name="adj" fmla="val 8000"/>
            </a:avLst>
          </a:prstGeom>
          <a:solidFill>
            <a:srgbClr val="1D3D57"/>
          </a:solidFill>
          <a:ln w="12700">
            <a:solidFill>
              <a:srgbClr val="1D3D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"/>
          <p:cNvSpPr txBox="1"/>
          <p:nvPr/>
        </p:nvSpPr>
        <p:spPr>
          <a:xfrm>
            <a:off x="731519" y="1639396"/>
            <a:ext cx="34747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2994A"/>
                </a:solidFill>
              </a:defRPr>
            </a:lvl1pPr>
          </a:lstStyle>
          <a:p>
            <a:pPr/>
            <a:r>
              <a:t>Graph</a:t>
            </a:r>
          </a:p>
        </p:txBody>
      </p:sp>
      <p:sp>
        <p:nvSpPr>
          <p:cNvPr id="154" name="Text 3"/>
          <p:cNvSpPr txBox="1"/>
          <p:nvPr/>
        </p:nvSpPr>
        <p:spPr>
          <a:xfrm>
            <a:off x="731519" y="2145600"/>
            <a:ext cx="34747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Adjacency matrix models clashes clearly</a:t>
            </a:r>
          </a:p>
        </p:txBody>
      </p:sp>
      <p:sp>
        <p:nvSpPr>
          <p:cNvPr id="155" name="Shape 4"/>
          <p:cNvSpPr/>
          <p:nvPr/>
        </p:nvSpPr>
        <p:spPr>
          <a:xfrm>
            <a:off x="4663440" y="1463039"/>
            <a:ext cx="3840481" cy="1143001"/>
          </a:xfrm>
          <a:prstGeom prst="roundRect">
            <a:avLst>
              <a:gd name="adj" fmla="val 8000"/>
            </a:avLst>
          </a:prstGeom>
          <a:solidFill>
            <a:srgbClr val="1D3D57"/>
          </a:solidFill>
          <a:ln w="12700">
            <a:solidFill>
              <a:srgbClr val="1D3D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5"/>
          <p:cNvSpPr txBox="1"/>
          <p:nvPr/>
        </p:nvSpPr>
        <p:spPr>
          <a:xfrm>
            <a:off x="4846320" y="1639396"/>
            <a:ext cx="34747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2994A"/>
                </a:solidFill>
              </a:defRPr>
            </a:lvl1pPr>
          </a:lstStyle>
          <a:p>
            <a:pPr/>
            <a:r>
              <a:t>Backtracking</a:t>
            </a:r>
          </a:p>
        </p:txBody>
      </p:sp>
      <p:sp>
        <p:nvSpPr>
          <p:cNvPr id="157" name="Text 6"/>
          <p:cNvSpPr txBox="1"/>
          <p:nvPr/>
        </p:nvSpPr>
        <p:spPr>
          <a:xfrm>
            <a:off x="4846320" y="2145600"/>
            <a:ext cx="3474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Guarantees no faculty or panel overlap</a:t>
            </a:r>
          </a:p>
        </p:txBody>
      </p:sp>
      <p:sp>
        <p:nvSpPr>
          <p:cNvPr id="158" name="Shape 7"/>
          <p:cNvSpPr/>
          <p:nvPr/>
        </p:nvSpPr>
        <p:spPr>
          <a:xfrm>
            <a:off x="548640" y="2834639"/>
            <a:ext cx="3840480" cy="1143001"/>
          </a:xfrm>
          <a:prstGeom prst="roundRect">
            <a:avLst>
              <a:gd name="adj" fmla="val 8000"/>
            </a:avLst>
          </a:prstGeom>
          <a:solidFill>
            <a:srgbClr val="1D3D57"/>
          </a:solidFill>
          <a:ln w="12700">
            <a:solidFill>
              <a:srgbClr val="1D3D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8"/>
          <p:cNvSpPr txBox="1"/>
          <p:nvPr/>
        </p:nvSpPr>
        <p:spPr>
          <a:xfrm>
            <a:off x="731519" y="3010996"/>
            <a:ext cx="34747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2994A"/>
                </a:solidFill>
              </a:defRPr>
            </a:lvl1pPr>
          </a:lstStyle>
          <a:p>
            <a:pPr/>
            <a:r>
              <a:t>Arrays &amp; Structs</a:t>
            </a:r>
          </a:p>
        </p:txBody>
      </p:sp>
      <p:sp>
        <p:nvSpPr>
          <p:cNvPr id="160" name="Text 9"/>
          <p:cNvSpPr txBox="1"/>
          <p:nvPr/>
        </p:nvSpPr>
        <p:spPr>
          <a:xfrm>
            <a:off x="731519" y="3517200"/>
            <a:ext cx="34747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Fast, simple storage of records</a:t>
            </a:r>
          </a:p>
        </p:txBody>
      </p:sp>
      <p:sp>
        <p:nvSpPr>
          <p:cNvPr id="161" name="Shape 10"/>
          <p:cNvSpPr/>
          <p:nvPr/>
        </p:nvSpPr>
        <p:spPr>
          <a:xfrm>
            <a:off x="4663440" y="2834639"/>
            <a:ext cx="3840481" cy="1143001"/>
          </a:xfrm>
          <a:prstGeom prst="roundRect">
            <a:avLst>
              <a:gd name="adj" fmla="val 8000"/>
            </a:avLst>
          </a:prstGeom>
          <a:solidFill>
            <a:srgbClr val="1D3D57"/>
          </a:solidFill>
          <a:ln w="12700">
            <a:solidFill>
              <a:srgbClr val="1D3D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1"/>
          <p:cNvSpPr txBox="1"/>
          <p:nvPr/>
        </p:nvSpPr>
        <p:spPr>
          <a:xfrm>
            <a:off x="4846320" y="3010996"/>
            <a:ext cx="34747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2994A"/>
                </a:solidFill>
              </a:defRPr>
            </a:lvl1pPr>
          </a:lstStyle>
          <a:p>
            <a:pPr/>
            <a:r>
              <a:t>Linked List</a:t>
            </a:r>
          </a:p>
        </p:txBody>
      </p:sp>
      <p:sp>
        <p:nvSpPr>
          <p:cNvPr id="163" name="Text 12"/>
          <p:cNvSpPr txBox="1"/>
          <p:nvPr/>
        </p:nvSpPr>
        <p:spPr>
          <a:xfrm>
            <a:off x="4846320" y="3517200"/>
            <a:ext cx="3474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Flexible, dynamic growth with malloc</a:t>
            </a:r>
          </a:p>
        </p:txBody>
      </p:sp>
      <p:sp>
        <p:nvSpPr>
          <p:cNvPr id="164" name="Text 13"/>
          <p:cNvSpPr txBox="1"/>
          <p:nvPr/>
        </p:nvSpPr>
        <p:spPr>
          <a:xfrm>
            <a:off x="548640" y="4602918"/>
            <a:ext cx="80467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9FC9C4"/>
                </a:solidFill>
              </a:defRPr>
            </a:lvl1pPr>
          </a:lstStyle>
          <a:p>
            <a:pPr/>
            <a:r>
              <a:t>Future scope: priority queue for makeup requests · adjacency list for large graphs · GUI</a:t>
            </a:r>
          </a:p>
        </p:txBody>
      </p:sp>
      <p:sp>
        <p:nvSpPr>
          <p:cNvPr id="165" name="Text 14"/>
          <p:cNvSpPr txBox="1"/>
          <p:nvPr/>
        </p:nvSpPr>
        <p:spPr>
          <a:xfrm>
            <a:off x="548640" y="4193103"/>
            <a:ext cx="804671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